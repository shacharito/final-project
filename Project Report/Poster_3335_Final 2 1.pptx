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4"/>
  </p:sldMasterIdLst>
  <p:sldIdLst>
    <p:sldId id="256" r:id="rId5"/>
  </p:sldIdLst>
  <p:sldSz cx="35999738" cy="251999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BAEE"/>
    <a:srgbClr val="F5F5F5"/>
    <a:srgbClr val="E3E3E3"/>
    <a:srgbClr val="DEDEDE"/>
    <a:srgbClr val="99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5BD504-6186-E24F-65A0-13CA5334EB82}" v="2" dt="2026-05-19T09:46:12.981"/>
    <p1510:client id="{7C04CD70-C55E-62BB-2986-6AEC46A65263}" v="1" dt="2026-05-19T10:12:40.0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5642" autoAdjust="0"/>
  </p:normalViewPr>
  <p:slideViewPr>
    <p:cSldViewPr snapToGrid="0">
      <p:cViewPr>
        <p:scale>
          <a:sx n="50" d="100"/>
          <a:sy n="50" d="100"/>
        </p:scale>
        <p:origin x="36" y="276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81" y="4124164"/>
            <a:ext cx="30599777" cy="8773325"/>
          </a:xfrm>
        </p:spPr>
        <p:txBody>
          <a:bodyPr anchor="b"/>
          <a:lstStyle>
            <a:lvl1pPr algn="ctr">
              <a:defRPr sz="220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9967" y="13235822"/>
            <a:ext cx="26999804" cy="6084159"/>
          </a:xfrm>
        </p:spPr>
        <p:txBody>
          <a:bodyPr/>
          <a:lstStyle>
            <a:lvl1pPr marL="0" indent="0" algn="ctr">
              <a:buNone/>
              <a:defRPr sz="8819"/>
            </a:lvl1pPr>
            <a:lvl2pPr marL="1679981" indent="0" algn="ctr">
              <a:buNone/>
              <a:defRPr sz="7349"/>
            </a:lvl2pPr>
            <a:lvl3pPr marL="3359963" indent="0" algn="ctr">
              <a:buNone/>
              <a:defRPr sz="6614"/>
            </a:lvl3pPr>
            <a:lvl4pPr marL="5039944" indent="0" algn="ctr">
              <a:buNone/>
              <a:defRPr sz="5879"/>
            </a:lvl4pPr>
            <a:lvl5pPr marL="6719926" indent="0" algn="ctr">
              <a:buNone/>
              <a:defRPr sz="5879"/>
            </a:lvl5pPr>
            <a:lvl6pPr marL="8399907" indent="0" algn="ctr">
              <a:buNone/>
              <a:defRPr sz="5879"/>
            </a:lvl6pPr>
            <a:lvl7pPr marL="10079888" indent="0" algn="ctr">
              <a:buNone/>
              <a:defRPr sz="5879"/>
            </a:lvl7pPr>
            <a:lvl8pPr marL="11759870" indent="0" algn="ctr">
              <a:buNone/>
              <a:defRPr sz="5879"/>
            </a:lvl8pPr>
            <a:lvl9pPr marL="13439851" indent="0" algn="ctr">
              <a:buNone/>
              <a:defRPr sz="587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603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720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234" y="6282501"/>
            <a:ext cx="31049774" cy="10482488"/>
          </a:xfrm>
        </p:spPr>
        <p:txBody>
          <a:bodyPr anchor="b"/>
          <a:lstStyle>
            <a:lvl1pPr>
              <a:defRPr sz="220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234" y="16864157"/>
            <a:ext cx="31049774" cy="5512493"/>
          </a:xfrm>
        </p:spPr>
        <p:txBody>
          <a:bodyPr/>
          <a:lstStyle>
            <a:lvl1pPr marL="0" indent="0">
              <a:buNone/>
              <a:defRPr sz="8819">
                <a:solidFill>
                  <a:schemeClr val="tx1">
                    <a:tint val="82000"/>
                  </a:schemeClr>
                </a:solidFill>
              </a:defRPr>
            </a:lvl1pPr>
            <a:lvl2pPr marL="1679981" indent="0">
              <a:buNone/>
              <a:defRPr sz="7349">
                <a:solidFill>
                  <a:schemeClr val="tx1">
                    <a:tint val="82000"/>
                  </a:schemeClr>
                </a:solidFill>
              </a:defRPr>
            </a:lvl2pPr>
            <a:lvl3pPr marL="3359963" indent="0">
              <a:buNone/>
              <a:defRPr sz="6614">
                <a:solidFill>
                  <a:schemeClr val="tx1">
                    <a:tint val="82000"/>
                  </a:schemeClr>
                </a:solidFill>
              </a:defRPr>
            </a:lvl3pPr>
            <a:lvl4pPr marL="5039944" indent="0">
              <a:buNone/>
              <a:defRPr sz="5879">
                <a:solidFill>
                  <a:schemeClr val="tx1">
                    <a:tint val="82000"/>
                  </a:schemeClr>
                </a:solidFill>
              </a:defRPr>
            </a:lvl4pPr>
            <a:lvl5pPr marL="6719926" indent="0">
              <a:buNone/>
              <a:defRPr sz="5879">
                <a:solidFill>
                  <a:schemeClr val="tx1">
                    <a:tint val="82000"/>
                  </a:schemeClr>
                </a:solidFill>
              </a:defRPr>
            </a:lvl5pPr>
            <a:lvl6pPr marL="8399907" indent="0">
              <a:buNone/>
              <a:defRPr sz="5879">
                <a:solidFill>
                  <a:schemeClr val="tx1">
                    <a:tint val="82000"/>
                  </a:schemeClr>
                </a:solidFill>
              </a:defRPr>
            </a:lvl6pPr>
            <a:lvl7pPr marL="10079888" indent="0">
              <a:buNone/>
              <a:defRPr sz="5879">
                <a:solidFill>
                  <a:schemeClr val="tx1">
                    <a:tint val="82000"/>
                  </a:schemeClr>
                </a:solidFill>
              </a:defRPr>
            </a:lvl7pPr>
            <a:lvl8pPr marL="11759870" indent="0">
              <a:buNone/>
              <a:defRPr sz="5879">
                <a:solidFill>
                  <a:schemeClr val="tx1">
                    <a:tint val="82000"/>
                  </a:schemeClr>
                </a:solidFill>
              </a:defRPr>
            </a:lvl8pPr>
            <a:lvl9pPr marL="13439851" indent="0">
              <a:buNone/>
              <a:defRPr sz="587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818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4982" y="6708326"/>
            <a:ext cx="15299889" cy="159891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4867" y="6708326"/>
            <a:ext cx="15299889" cy="159891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521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1341671"/>
            <a:ext cx="31049774" cy="48708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675" y="6177496"/>
            <a:ext cx="15229574" cy="3027495"/>
          </a:xfrm>
        </p:spPr>
        <p:txBody>
          <a:bodyPr anchor="b"/>
          <a:lstStyle>
            <a:lvl1pPr marL="0" indent="0">
              <a:buNone/>
              <a:defRPr sz="8819" b="1"/>
            </a:lvl1pPr>
            <a:lvl2pPr marL="1679981" indent="0">
              <a:buNone/>
              <a:defRPr sz="7349" b="1"/>
            </a:lvl2pPr>
            <a:lvl3pPr marL="3359963" indent="0">
              <a:buNone/>
              <a:defRPr sz="6614" b="1"/>
            </a:lvl3pPr>
            <a:lvl4pPr marL="5039944" indent="0">
              <a:buNone/>
              <a:defRPr sz="5879" b="1"/>
            </a:lvl4pPr>
            <a:lvl5pPr marL="6719926" indent="0">
              <a:buNone/>
              <a:defRPr sz="5879" b="1"/>
            </a:lvl5pPr>
            <a:lvl6pPr marL="8399907" indent="0">
              <a:buNone/>
              <a:defRPr sz="5879" b="1"/>
            </a:lvl6pPr>
            <a:lvl7pPr marL="10079888" indent="0">
              <a:buNone/>
              <a:defRPr sz="5879" b="1"/>
            </a:lvl7pPr>
            <a:lvl8pPr marL="11759870" indent="0">
              <a:buNone/>
              <a:defRPr sz="5879" b="1"/>
            </a:lvl8pPr>
            <a:lvl9pPr marL="13439851" indent="0">
              <a:buNone/>
              <a:defRPr sz="587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79675" y="9204991"/>
            <a:ext cx="15229574" cy="13539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4869" y="6177496"/>
            <a:ext cx="15304578" cy="3027495"/>
          </a:xfrm>
        </p:spPr>
        <p:txBody>
          <a:bodyPr anchor="b"/>
          <a:lstStyle>
            <a:lvl1pPr marL="0" indent="0">
              <a:buNone/>
              <a:defRPr sz="8819" b="1"/>
            </a:lvl1pPr>
            <a:lvl2pPr marL="1679981" indent="0">
              <a:buNone/>
              <a:defRPr sz="7349" b="1"/>
            </a:lvl2pPr>
            <a:lvl3pPr marL="3359963" indent="0">
              <a:buNone/>
              <a:defRPr sz="6614" b="1"/>
            </a:lvl3pPr>
            <a:lvl4pPr marL="5039944" indent="0">
              <a:buNone/>
              <a:defRPr sz="5879" b="1"/>
            </a:lvl4pPr>
            <a:lvl5pPr marL="6719926" indent="0">
              <a:buNone/>
              <a:defRPr sz="5879" b="1"/>
            </a:lvl5pPr>
            <a:lvl6pPr marL="8399907" indent="0">
              <a:buNone/>
              <a:defRPr sz="5879" b="1"/>
            </a:lvl6pPr>
            <a:lvl7pPr marL="10079888" indent="0">
              <a:buNone/>
              <a:defRPr sz="5879" b="1"/>
            </a:lvl7pPr>
            <a:lvl8pPr marL="11759870" indent="0">
              <a:buNone/>
              <a:defRPr sz="5879" b="1"/>
            </a:lvl8pPr>
            <a:lvl9pPr marL="13439851" indent="0">
              <a:buNone/>
              <a:defRPr sz="587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4869" y="9204991"/>
            <a:ext cx="15304578" cy="13539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641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277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056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1679998"/>
            <a:ext cx="11610853" cy="5879994"/>
          </a:xfrm>
        </p:spPr>
        <p:txBody>
          <a:bodyPr anchor="b"/>
          <a:lstStyle>
            <a:lvl1pPr>
              <a:defRPr sz="1175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4578" y="3628335"/>
            <a:ext cx="18224867" cy="17908316"/>
          </a:xfrm>
        </p:spPr>
        <p:txBody>
          <a:bodyPr/>
          <a:lstStyle>
            <a:lvl1pPr>
              <a:defRPr sz="11758"/>
            </a:lvl1pPr>
            <a:lvl2pPr>
              <a:defRPr sz="10289"/>
            </a:lvl2pPr>
            <a:lvl3pPr>
              <a:defRPr sz="8819"/>
            </a:lvl3pPr>
            <a:lvl4pPr>
              <a:defRPr sz="7349"/>
            </a:lvl4pPr>
            <a:lvl5pPr>
              <a:defRPr sz="7349"/>
            </a:lvl5pPr>
            <a:lvl6pPr>
              <a:defRPr sz="7349"/>
            </a:lvl6pPr>
            <a:lvl7pPr>
              <a:defRPr sz="7349"/>
            </a:lvl7pPr>
            <a:lvl8pPr>
              <a:defRPr sz="7349"/>
            </a:lvl8pPr>
            <a:lvl9pPr>
              <a:defRPr sz="734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7559993"/>
            <a:ext cx="11610853" cy="14005821"/>
          </a:xfrm>
        </p:spPr>
        <p:txBody>
          <a:bodyPr/>
          <a:lstStyle>
            <a:lvl1pPr marL="0" indent="0">
              <a:buNone/>
              <a:defRPr sz="5879"/>
            </a:lvl1pPr>
            <a:lvl2pPr marL="1679981" indent="0">
              <a:buNone/>
              <a:defRPr sz="5144"/>
            </a:lvl2pPr>
            <a:lvl3pPr marL="3359963" indent="0">
              <a:buNone/>
              <a:defRPr sz="4409"/>
            </a:lvl3pPr>
            <a:lvl4pPr marL="5039944" indent="0">
              <a:buNone/>
              <a:defRPr sz="3674"/>
            </a:lvl4pPr>
            <a:lvl5pPr marL="6719926" indent="0">
              <a:buNone/>
              <a:defRPr sz="3674"/>
            </a:lvl5pPr>
            <a:lvl6pPr marL="8399907" indent="0">
              <a:buNone/>
              <a:defRPr sz="3674"/>
            </a:lvl6pPr>
            <a:lvl7pPr marL="10079888" indent="0">
              <a:buNone/>
              <a:defRPr sz="3674"/>
            </a:lvl7pPr>
            <a:lvl8pPr marL="11759870" indent="0">
              <a:buNone/>
              <a:defRPr sz="3674"/>
            </a:lvl8pPr>
            <a:lvl9pPr marL="13439851" indent="0">
              <a:buNone/>
              <a:defRPr sz="367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197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1679998"/>
            <a:ext cx="11610853" cy="5879994"/>
          </a:xfrm>
        </p:spPr>
        <p:txBody>
          <a:bodyPr anchor="b"/>
          <a:lstStyle>
            <a:lvl1pPr>
              <a:defRPr sz="1175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4578" y="3628335"/>
            <a:ext cx="18224867" cy="17908316"/>
          </a:xfrm>
        </p:spPr>
        <p:txBody>
          <a:bodyPr anchor="t"/>
          <a:lstStyle>
            <a:lvl1pPr marL="0" indent="0">
              <a:buNone/>
              <a:defRPr sz="11758"/>
            </a:lvl1pPr>
            <a:lvl2pPr marL="1679981" indent="0">
              <a:buNone/>
              <a:defRPr sz="10289"/>
            </a:lvl2pPr>
            <a:lvl3pPr marL="3359963" indent="0">
              <a:buNone/>
              <a:defRPr sz="8819"/>
            </a:lvl3pPr>
            <a:lvl4pPr marL="5039944" indent="0">
              <a:buNone/>
              <a:defRPr sz="7349"/>
            </a:lvl4pPr>
            <a:lvl5pPr marL="6719926" indent="0">
              <a:buNone/>
              <a:defRPr sz="7349"/>
            </a:lvl5pPr>
            <a:lvl6pPr marL="8399907" indent="0">
              <a:buNone/>
              <a:defRPr sz="7349"/>
            </a:lvl6pPr>
            <a:lvl7pPr marL="10079888" indent="0">
              <a:buNone/>
              <a:defRPr sz="7349"/>
            </a:lvl7pPr>
            <a:lvl8pPr marL="11759870" indent="0">
              <a:buNone/>
              <a:defRPr sz="7349"/>
            </a:lvl8pPr>
            <a:lvl9pPr marL="13439851" indent="0">
              <a:buNone/>
              <a:defRPr sz="734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7559993"/>
            <a:ext cx="11610853" cy="14005821"/>
          </a:xfrm>
        </p:spPr>
        <p:txBody>
          <a:bodyPr/>
          <a:lstStyle>
            <a:lvl1pPr marL="0" indent="0">
              <a:buNone/>
              <a:defRPr sz="5879"/>
            </a:lvl1pPr>
            <a:lvl2pPr marL="1679981" indent="0">
              <a:buNone/>
              <a:defRPr sz="5144"/>
            </a:lvl2pPr>
            <a:lvl3pPr marL="3359963" indent="0">
              <a:buNone/>
              <a:defRPr sz="4409"/>
            </a:lvl3pPr>
            <a:lvl4pPr marL="5039944" indent="0">
              <a:buNone/>
              <a:defRPr sz="3674"/>
            </a:lvl4pPr>
            <a:lvl5pPr marL="6719926" indent="0">
              <a:buNone/>
              <a:defRPr sz="3674"/>
            </a:lvl5pPr>
            <a:lvl6pPr marL="8399907" indent="0">
              <a:buNone/>
              <a:defRPr sz="3674"/>
            </a:lvl6pPr>
            <a:lvl7pPr marL="10079888" indent="0">
              <a:buNone/>
              <a:defRPr sz="3674"/>
            </a:lvl7pPr>
            <a:lvl8pPr marL="11759870" indent="0">
              <a:buNone/>
              <a:defRPr sz="3674"/>
            </a:lvl8pPr>
            <a:lvl9pPr marL="13439851" indent="0">
              <a:buNone/>
              <a:defRPr sz="367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506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775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2314" y="1341665"/>
            <a:ext cx="7762444" cy="213558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4984" y="1341665"/>
            <a:ext cx="22837334" cy="2135581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164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4982" y="1341671"/>
            <a:ext cx="31049774" cy="48708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4982" y="6708326"/>
            <a:ext cx="31049774" cy="159891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4982" y="23356649"/>
            <a:ext cx="8099941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ABFBC8-CE72-EF49-83B3-C915A10C458B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4913" y="23356649"/>
            <a:ext cx="12149912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4815" y="23356649"/>
            <a:ext cx="8099941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724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3359963" rtl="0" eaLnBrk="1" latinLnBrk="0" hangingPunct="1">
        <a:lnSpc>
          <a:spcPct val="90000"/>
        </a:lnSpc>
        <a:spcBef>
          <a:spcPct val="0"/>
        </a:spcBef>
        <a:buNone/>
        <a:defRPr sz="161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39991" indent="-839991" algn="l" defTabSz="3359963" rtl="0" eaLnBrk="1" latinLnBrk="0" hangingPunct="1">
        <a:lnSpc>
          <a:spcPct val="90000"/>
        </a:lnSpc>
        <a:spcBef>
          <a:spcPts val="3674"/>
        </a:spcBef>
        <a:buFont typeface="Arial" panose="020B0604020202020204" pitchFamily="34" charset="0"/>
        <a:buChar char="•"/>
        <a:defRPr sz="10289" kern="1200">
          <a:solidFill>
            <a:schemeClr val="tx1"/>
          </a:solidFill>
          <a:latin typeface="+mn-lt"/>
          <a:ea typeface="+mn-ea"/>
          <a:cs typeface="+mn-cs"/>
        </a:defRPr>
      </a:lvl1pPr>
      <a:lvl2pPr marL="2519972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8819" kern="1200">
          <a:solidFill>
            <a:schemeClr val="tx1"/>
          </a:solidFill>
          <a:latin typeface="+mn-lt"/>
          <a:ea typeface="+mn-ea"/>
          <a:cs typeface="+mn-cs"/>
        </a:defRPr>
      </a:lvl2pPr>
      <a:lvl3pPr marL="4199954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7349" kern="1200">
          <a:solidFill>
            <a:schemeClr val="tx1"/>
          </a:solidFill>
          <a:latin typeface="+mn-lt"/>
          <a:ea typeface="+mn-ea"/>
          <a:cs typeface="+mn-cs"/>
        </a:defRPr>
      </a:lvl3pPr>
      <a:lvl4pPr marL="5879935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4pPr>
      <a:lvl5pPr marL="7559916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5pPr>
      <a:lvl6pPr marL="9239898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6pPr>
      <a:lvl7pPr marL="10919879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7pPr>
      <a:lvl8pPr marL="12599861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8pPr>
      <a:lvl9pPr marL="14279842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1pPr>
      <a:lvl2pPr marL="1679981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2pPr>
      <a:lvl3pPr marL="3359963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3pPr>
      <a:lvl4pPr marL="5039944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4pPr>
      <a:lvl5pPr marL="6719926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5pPr>
      <a:lvl6pPr marL="8399907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6pPr>
      <a:lvl7pPr marL="10079888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7pPr>
      <a:lvl8pPr marL="11759870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8pPr>
      <a:lvl9pPr marL="13439851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E03286-4430-E0C5-C9C7-6D06D5A8480B}"/>
              </a:ext>
            </a:extLst>
          </p:cNvPr>
          <p:cNvSpPr>
            <a:spLocks/>
          </p:cNvSpPr>
          <p:nvPr/>
        </p:nvSpPr>
        <p:spPr>
          <a:xfrm>
            <a:off x="809778" y="1440891"/>
            <a:ext cx="34403273" cy="2879109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46357" rtl="1"/>
            <a:endParaRPr lang="en-US" sz="3037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1B0C629-A0BD-27E1-641C-639B84044F91}"/>
              </a:ext>
            </a:extLst>
          </p:cNvPr>
          <p:cNvSpPr txBox="1"/>
          <p:nvPr/>
        </p:nvSpPr>
        <p:spPr>
          <a:xfrm>
            <a:off x="24335961" y="4500000"/>
            <a:ext cx="10504800" cy="9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25199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sz="4400" b="1">
                <a:solidFill>
                  <a:srgbClr val="1B3A5C"/>
                </a:solidFill>
                <a:latin typeface="Calibri"/>
              </a:rPr>
              <a:t>Decision Algorithm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800">
                <a:solidFill>
                  <a:srgbClr val="00838F"/>
                </a:solidFill>
              </a:rPr>
              <a:t>──────────────────────────────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FEDB904-F567-0976-A615-296E3DFB021F}"/>
              </a:ext>
            </a:extLst>
          </p:cNvPr>
          <p:cNvGrpSpPr/>
          <p:nvPr/>
        </p:nvGrpSpPr>
        <p:grpSpPr>
          <a:xfrm>
            <a:off x="185731" y="18722"/>
            <a:ext cx="35651367" cy="1407088"/>
            <a:chOff x="185731" y="18722"/>
            <a:chExt cx="35651367" cy="140708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F0D1D2B-CD74-3EC0-1A7E-DD2823DA67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731" y="18722"/>
              <a:ext cx="35651367" cy="1407088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A5350F39-C37A-6532-34D2-E7EA627780B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1408874" y="257838"/>
              <a:ext cx="3655103" cy="928853"/>
            </a:xfrm>
            <a:prstGeom prst="rect">
              <a:avLst/>
            </a:prstGeom>
          </p:spPr>
        </p:pic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1FF67915-D1F3-C9D7-C6EC-4FD70CFE979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5764" y="181120"/>
              <a:ext cx="5796815" cy="1005571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F4DC5E95-292C-ABA8-58EF-6AEFEBCEF01C}"/>
              </a:ext>
            </a:extLst>
          </p:cNvPr>
          <p:cNvSpPr txBox="1">
            <a:spLocks/>
          </p:cNvSpPr>
          <p:nvPr/>
        </p:nvSpPr>
        <p:spPr>
          <a:xfrm>
            <a:off x="809779" y="757426"/>
            <a:ext cx="341663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4200" b="1" dirty="0">
                <a:solidFill>
                  <a:srgbClr val="F5F5F5"/>
                </a:solidFill>
                <a:latin typeface="Calibri"/>
              </a:rPr>
              <a:t>Stand-Alone Low-Power Object Detection System
for Open-Field Environments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56FB1D-CB3A-ADB9-F137-C4249CAB9851}"/>
              </a:ext>
            </a:extLst>
          </p:cNvPr>
          <p:cNvSpPr txBox="1">
            <a:spLocks/>
          </p:cNvSpPr>
          <p:nvPr/>
        </p:nvSpPr>
        <p:spPr>
          <a:xfrm>
            <a:off x="8487505" y="2340000"/>
            <a:ext cx="183907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800" b="1" dirty="0">
                <a:solidFill>
                  <a:srgbClr val="E3E3E3"/>
                </a:solidFill>
                <a:latin typeface="Calibri"/>
              </a:rPr>
              <a:t>Amit Sharvit, Shachar Weinberg</a:t>
            </a:r>
            <a:endParaRPr lang="he-IL" sz="4000" dirty="0">
              <a:cs typeface="Open Sans Hebrew" panose="00000500000000000000" pitchFamily="2" charset="-79"/>
            </a:endParaRPr>
          </a:p>
          <a:p>
            <a:pPr algn="ctr"/>
            <a:r>
              <a:rPr sz="2800" b="1" dirty="0">
                <a:solidFill>
                  <a:srgbClr val="E3E3E3"/>
                </a:solidFill>
                <a:latin typeface="Calibri"/>
              </a:rPr>
              <a:t>Advisor: H</a:t>
            </a:r>
            <a:r>
              <a:rPr lang="en-US" sz="2800" b="1" dirty="0">
                <a:solidFill>
                  <a:srgbClr val="E3E3E3"/>
                </a:solidFill>
                <a:latin typeface="Calibri"/>
              </a:rPr>
              <a:t>e</a:t>
            </a:r>
            <a:r>
              <a:rPr sz="2800" b="1" dirty="0">
                <a:solidFill>
                  <a:srgbClr val="E3E3E3"/>
                </a:solidFill>
                <a:latin typeface="Calibri"/>
              </a:rPr>
              <a:t>zi </a:t>
            </a:r>
            <a:r>
              <a:rPr sz="2800" b="1" dirty="0" err="1">
                <a:solidFill>
                  <a:srgbClr val="E3E3E3"/>
                </a:solidFill>
                <a:latin typeface="Calibri"/>
              </a:rPr>
              <a:t>Nistani</a:t>
            </a:r>
            <a:endParaRPr sz="2800" b="1" dirty="0">
              <a:solidFill>
                <a:srgbClr val="E3E3E3"/>
              </a:solidFill>
              <a:latin typeface="Calibri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B82CFC1-305C-A411-B1FF-DD54AA94EB29}"/>
              </a:ext>
            </a:extLst>
          </p:cNvPr>
          <p:cNvSpPr txBox="1"/>
          <p:nvPr/>
        </p:nvSpPr>
        <p:spPr>
          <a:xfrm>
            <a:off x="1158977" y="4500000"/>
            <a:ext cx="10503375" cy="1908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 defTabSz="2519995">
              <a:spcBef>
                <a:spcPts val="0"/>
              </a:spcBef>
              <a:spcAft>
                <a:spcPts val="400"/>
              </a:spcAft>
              <a:defRPr/>
            </a:pPr>
            <a:r>
              <a:rPr sz="4400" b="1" dirty="0">
                <a:solidFill>
                  <a:srgbClr val="1B3A5C"/>
                </a:solidFill>
                <a:latin typeface="Calibri"/>
              </a:rPr>
              <a:t>Introduction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800" dirty="0">
                <a:solidFill>
                  <a:srgbClr val="00838F"/>
                </a:solidFill>
              </a:rPr>
              <a:t>──────────────────────────────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2600" dirty="0">
                <a:solidFill>
                  <a:srgbClr val="2C3E50"/>
                </a:solidFill>
                <a:latin typeface="Calibri"/>
              </a:rPr>
              <a:t>A stand-alone, battery-powered system for detecting objects of interest in open-field environments at ranges up to 30 meters, designed for months-long autonomous operation without infrastructure.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2600" dirty="0">
                <a:solidFill>
                  <a:srgbClr val="2C3E50"/>
                </a:solidFill>
                <a:latin typeface="Calibri"/>
              </a:rPr>
              <a:t>The detection target is fully configurable — person, animal, vehicle, or other object types. The selected target class determines both the sensor fusion weights and the neural network model weights.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2600" dirty="0">
                <a:solidFill>
                  <a:srgbClr val="2C3E50"/>
                </a:solidFill>
                <a:latin typeface="Calibri"/>
              </a:rPr>
              <a:t>An Edge AI model on the MCU evaluates multi-sensor triggers before activating the camera, achieving significant energy savings through intelligent, event-driven wake-up.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</a:pPr>
            <a:r>
              <a:rPr sz="3000" b="1" dirty="0">
                <a:solidFill>
                  <a:srgbClr val="00838F"/>
                </a:solidFill>
                <a:latin typeface="Calibri"/>
              </a:rPr>
              <a:t>System Requirements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2400" dirty="0">
                <a:solidFill>
                  <a:srgbClr val="444444"/>
                </a:solidFill>
                <a:latin typeface="Calibri"/>
              </a:rPr>
              <a:t>▸ Detection range: up to 30 meters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2400" dirty="0">
                <a:solidFill>
                  <a:srgbClr val="444444"/>
                </a:solidFill>
                <a:latin typeface="Calibri"/>
              </a:rPr>
              <a:t>▸ False alarm rate: below 10%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2400" dirty="0">
                <a:solidFill>
                  <a:srgbClr val="444444"/>
                </a:solidFill>
                <a:latin typeface="Calibri"/>
              </a:rPr>
              <a:t>▸ Battery life: 3+ months (10,000 </a:t>
            </a:r>
            <a:r>
              <a:rPr sz="2400" dirty="0" err="1">
                <a:solidFill>
                  <a:srgbClr val="444444"/>
                </a:solidFill>
                <a:latin typeface="Calibri"/>
              </a:rPr>
              <a:t>mAh</a:t>
            </a:r>
            <a:r>
              <a:rPr sz="2400" dirty="0">
                <a:solidFill>
                  <a:srgbClr val="444444"/>
                </a:solidFill>
                <a:latin typeface="Calibri"/>
              </a:rPr>
              <a:t>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2400" dirty="0">
                <a:solidFill>
                  <a:srgbClr val="444444"/>
                </a:solidFill>
                <a:latin typeface="Calibri"/>
              </a:rPr>
              <a:t>▸ All-weather outdoor operation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2400" dirty="0">
                <a:solidFill>
                  <a:srgbClr val="444444"/>
                </a:solidFill>
                <a:latin typeface="Calibri"/>
              </a:rPr>
              <a:t>▸ Configurable target object class</a:t>
            </a:r>
          </a:p>
          <a:p>
            <a:pPr algn="l">
              <a:spcBef>
                <a:spcPts val="2000"/>
              </a:spcBef>
              <a:spcAft>
                <a:spcPts val="400"/>
              </a:spcAft>
            </a:pPr>
            <a:r>
              <a:rPr sz="4400" b="1" dirty="0">
                <a:solidFill>
                  <a:srgbClr val="1B3A5C"/>
                </a:solidFill>
                <a:latin typeface="Calibri"/>
              </a:rPr>
              <a:t>Motivation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800" dirty="0">
                <a:solidFill>
                  <a:srgbClr val="00838F"/>
                </a:solidFill>
              </a:rPr>
              <a:t>──────────────────────────────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2600" dirty="0">
                <a:solidFill>
                  <a:srgbClr val="2C3E50"/>
                </a:solidFill>
                <a:latin typeface="Calibri"/>
              </a:rPr>
              <a:t>Conventional systems rely on continuous power and cellular connectivity — impractical off-grid. Our event-driven approach activates the camera only upon AI-confirmed detection.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2600" dirty="0">
                <a:solidFill>
                  <a:srgbClr val="2C3E50"/>
                </a:solidFill>
                <a:latin typeface="Calibri"/>
              </a:rPr>
              <a:t>One hardware platform serves multiple use cases — perimeter security, wildlife monitoring, traffic control — by swapping the model configuration.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</a:pPr>
            <a:r>
              <a:rPr sz="3000" b="1" dirty="0">
                <a:solidFill>
                  <a:srgbClr val="00838F"/>
                </a:solidFill>
                <a:latin typeface="Calibri"/>
              </a:rPr>
              <a:t>Target Applications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2400" dirty="0">
                <a:solidFill>
                  <a:srgbClr val="444444"/>
                </a:solidFill>
                <a:latin typeface="Calibri"/>
              </a:rPr>
              <a:t>▸ Perimeter security (person detection)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2400" dirty="0">
                <a:solidFill>
                  <a:srgbClr val="444444"/>
                </a:solidFill>
                <a:latin typeface="Calibri"/>
              </a:rPr>
              <a:t>▸ Wildlife monitoring (animal detection)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2400" dirty="0">
                <a:solidFill>
                  <a:srgbClr val="444444"/>
                </a:solidFill>
                <a:latin typeface="Calibri"/>
              </a:rPr>
              <a:t>▸ Traffic &amp; access control (vehicle detection)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2400" dirty="0">
                <a:solidFill>
                  <a:srgbClr val="444444"/>
                </a:solidFill>
                <a:latin typeface="Calibri"/>
              </a:rPr>
              <a:t>▸ Agricultural land monitoring</a:t>
            </a:r>
          </a:p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sz="2800" b="1" dirty="0">
                <a:solidFill>
                  <a:srgbClr val="00838F"/>
                </a:solidFill>
                <a:latin typeface="Calibri"/>
              </a:rPr>
              <a:t>★  AI-Based Configurable Detection</a:t>
            </a:r>
          </a:p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sz="2800" b="1" dirty="0">
                <a:solidFill>
                  <a:srgbClr val="00838F"/>
                </a:solidFill>
                <a:latin typeface="Calibri"/>
              </a:rPr>
              <a:t>★  Modular &amp; Compact Design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A25792-806E-7010-FEF7-A9FE738D7F23}"/>
              </a:ext>
            </a:extLst>
          </p:cNvPr>
          <p:cNvSpPr txBox="1"/>
          <p:nvPr/>
        </p:nvSpPr>
        <p:spPr>
          <a:xfrm>
            <a:off x="12579899" y="4500000"/>
            <a:ext cx="10504800" cy="9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 defTabSz="2519995">
              <a:spcBef>
                <a:spcPts val="0"/>
              </a:spcBef>
              <a:spcAft>
                <a:spcPts val="400"/>
              </a:spcAft>
              <a:defRPr/>
            </a:pPr>
            <a:r>
              <a:rPr sz="4400" b="1">
                <a:solidFill>
                  <a:srgbClr val="1B3A5C"/>
                </a:solidFill>
                <a:latin typeface="Calibri"/>
              </a:rPr>
              <a:t>System Architecture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800">
                <a:solidFill>
                  <a:srgbClr val="00838F"/>
                </a:solidFill>
              </a:rPr>
              <a:t>──────────────────────────────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9E7048A-0105-0DB4-1E9E-8A43F18ADB4F}"/>
              </a:ext>
            </a:extLst>
          </p:cNvPr>
          <p:cNvSpPr txBox="1">
            <a:spLocks/>
          </p:cNvSpPr>
          <p:nvPr/>
        </p:nvSpPr>
        <p:spPr>
          <a:xfrm>
            <a:off x="8636902" y="3402421"/>
            <a:ext cx="18390794" cy="64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400" b="1" dirty="0">
                <a:solidFill>
                  <a:srgbClr val="E3E3E3"/>
                </a:solidFill>
                <a:latin typeface="Calibri"/>
              </a:rPr>
              <a:t>Project Number: 3335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564000" y="12960000"/>
            <a:ext cx="10512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1B3A5C"/>
                </a:solidFill>
                <a:latin typeface="Calibri"/>
              </a:rPr>
              <a:t>Duty-Cycle Power Strategy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800">
                <a:solidFill>
                  <a:srgbClr val="00838F"/>
                </a:solidFill>
              </a:rPr>
              <a:t>──────────────────────────────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2C3E50"/>
                </a:solidFill>
                <a:latin typeface="Calibri"/>
              </a:rPr>
              <a:t>Two-tier architecture: always-on sensors for wake-up; high-power components on confirmed triggers only.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64000" y="14580000"/>
            <a:ext cx="10512000" cy="86400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24335999" y="16200000"/>
            <a:ext cx="10584000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 dirty="0">
                <a:solidFill>
                  <a:srgbClr val="1B3A5C"/>
                </a:solidFill>
                <a:latin typeface="Calibri"/>
              </a:rPr>
              <a:t>Conclusions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800" dirty="0">
                <a:solidFill>
                  <a:srgbClr val="00838F"/>
                </a:solidFill>
              </a:rPr>
              <a:t>──────────────────────────────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2200" dirty="0">
                <a:solidFill>
                  <a:srgbClr val="444444"/>
                </a:solidFill>
                <a:latin typeface="Calibri"/>
              </a:rPr>
              <a:t>▸ Configurable detection: person / animal / vehicle / custom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2200" dirty="0">
                <a:solidFill>
                  <a:srgbClr val="444444"/>
                </a:solidFill>
                <a:latin typeface="Calibri"/>
              </a:rPr>
              <a:t>▸ Target selection adjusts sensor weights + NN model weights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2200" dirty="0">
                <a:solidFill>
                  <a:srgbClr val="444444"/>
                </a:solidFill>
                <a:latin typeface="Calibri"/>
              </a:rPr>
              <a:t>▸ Edge AI achieves ~95% energy savings vs. naive trigger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2200" dirty="0">
                <a:solidFill>
                  <a:srgbClr val="444444"/>
                </a:solidFill>
                <a:latin typeface="Calibri"/>
              </a:rPr>
              <a:t>▸ Est. 3+ months battery life (10Ah)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2200" dirty="0">
                <a:solidFill>
                  <a:srgbClr val="444444"/>
                </a:solidFill>
                <a:latin typeface="Calibri"/>
              </a:rPr>
              <a:t>▸ </a:t>
            </a:r>
            <a:r>
              <a:rPr sz="2200" dirty="0" err="1">
                <a:solidFill>
                  <a:srgbClr val="444444"/>
                </a:solidFill>
                <a:latin typeface="Calibri"/>
              </a:rPr>
              <a:t>WiFi</a:t>
            </a:r>
            <a:r>
              <a:rPr sz="2200" dirty="0">
                <a:solidFill>
                  <a:srgbClr val="444444"/>
                </a:solidFill>
                <a:latin typeface="Calibri"/>
              </a:rPr>
              <a:t> alerts with real-time web dashboard</a:t>
            </a:r>
          </a:p>
          <a:p>
            <a:pPr algn="l">
              <a:spcBef>
                <a:spcPts val="1000"/>
              </a:spcBef>
              <a:spcAft>
                <a:spcPts val="400"/>
              </a:spcAft>
            </a:pPr>
            <a:r>
              <a:rPr sz="3000" b="1" dirty="0">
                <a:solidFill>
                  <a:srgbClr val="00838F"/>
                </a:solidFill>
                <a:latin typeface="Calibri"/>
              </a:rPr>
              <a:t>Future Work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2000" dirty="0">
                <a:solidFill>
                  <a:srgbClr val="444444"/>
                </a:solidFill>
                <a:latin typeface="Calibri"/>
              </a:rPr>
              <a:t>▸ Field testing with multiple target classes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2000" dirty="0">
                <a:solidFill>
                  <a:srgbClr val="444444"/>
                </a:solidFill>
                <a:latin typeface="Calibri"/>
              </a:rPr>
              <a:t>▸ ML model optimization per deployment scenario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2000" dirty="0">
                <a:solidFill>
                  <a:srgbClr val="444444"/>
                </a:solidFill>
                <a:latin typeface="Calibri"/>
              </a:rPr>
              <a:t>▸ Power profiling &amp; duty-cycle optimization</a:t>
            </a:r>
          </a:p>
          <a:p>
            <a:pPr algn="l">
              <a:spcBef>
                <a:spcPts val="1000"/>
              </a:spcBef>
              <a:spcAft>
                <a:spcPts val="400"/>
              </a:spcAft>
            </a:pPr>
            <a:r>
              <a:rPr sz="3000" b="1" dirty="0">
                <a:solidFill>
                  <a:srgbClr val="00838F"/>
                </a:solidFill>
                <a:latin typeface="Calibri"/>
              </a:rPr>
              <a:t>References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800" dirty="0">
                <a:solidFill>
                  <a:srgbClr val="2C3E50"/>
                </a:solidFill>
                <a:latin typeface="Calibri"/>
              </a:rPr>
              <a:t>[1] </a:t>
            </a:r>
            <a:r>
              <a:rPr sz="1800" dirty="0" err="1">
                <a:solidFill>
                  <a:srgbClr val="2C3E50"/>
                </a:solidFill>
                <a:latin typeface="Calibri"/>
              </a:rPr>
              <a:t>Espressif</a:t>
            </a:r>
            <a:r>
              <a:rPr sz="1800" dirty="0">
                <a:solidFill>
                  <a:srgbClr val="2C3E50"/>
                </a:solidFill>
                <a:latin typeface="Calibri"/>
              </a:rPr>
              <a:t> ESP32 Datasheet  [2] Edge Impulse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87B1E0-CA10-4735-D5A6-A4FE02EAA3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43379" y="5942376"/>
            <a:ext cx="10813721" cy="62812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BEF8CF2-EBB8-29CE-ABAA-7F554015052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2318" r="17469" b="20214"/>
          <a:stretch>
            <a:fillRect/>
          </a:stretch>
        </p:blipFill>
        <p:spPr>
          <a:xfrm>
            <a:off x="24158747" y="5870627"/>
            <a:ext cx="10186299" cy="1032937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DF7DD11-F757-2B76-D940-36D87D7E36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8977" y="23510919"/>
            <a:ext cx="4267223" cy="76488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1E9F144-180E-FFCB-F63D-9D52908EE1F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16713" y="23220000"/>
            <a:ext cx="5455125" cy="1595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494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3894B321F97984089F660A1B37BD856" ma:contentTypeVersion="8" ma:contentTypeDescription="Create a new document." ma:contentTypeScope="" ma:versionID="69f2837f18e45e11aaa12c857e6c5827">
  <xsd:schema xmlns:xsd="http://www.w3.org/2001/XMLSchema" xmlns:xs="http://www.w3.org/2001/XMLSchema" xmlns:p="http://schemas.microsoft.com/office/2006/metadata/properties" xmlns:ns3="844e0735-f53f-4baa-bd75-b10ae3a2bbdb" targetNamespace="http://schemas.microsoft.com/office/2006/metadata/properties" ma:root="true" ma:fieldsID="44cfe3dd05ba74ef950c29cbe3f766ab" ns3:_="">
    <xsd:import namespace="844e0735-f53f-4baa-bd75-b10ae3a2bbd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_activity" minOccurs="0"/>
                <xsd:element ref="ns3:MediaServiceDateTaken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4e0735-f53f-4baa-bd75-b10ae3a2bbd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44e0735-f53f-4baa-bd75-b10ae3a2bbdb" xsi:nil="true"/>
  </documentManagement>
</p:properties>
</file>

<file path=customXml/itemProps1.xml><?xml version="1.0" encoding="utf-8"?>
<ds:datastoreItem xmlns:ds="http://schemas.openxmlformats.org/officeDocument/2006/customXml" ds:itemID="{903E978F-3A35-4737-8BBB-B7BB0C7F7EB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44e0735-f53f-4baa-bd75-b10ae3a2bbd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AADE9C2-8609-4046-AFB7-2D78D2E3679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2713F10-82D8-4B91-A273-2BA44EB6FF7B}">
  <ds:schemaRefs>
    <ds:schemaRef ds:uri="http://schemas.microsoft.com/office/2006/metadata/properties"/>
    <ds:schemaRef ds:uri="http://purl.org/dc/dcmitype/"/>
    <ds:schemaRef ds:uri="http://purl.org/dc/elements/1.1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844e0735-f53f-4baa-bd75-b10ae3a2bbdb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5866</TotalTime>
  <Words>352</Words>
  <Application>Microsoft Office PowerPoint</Application>
  <PresentationFormat>Custom</PresentationFormat>
  <Paragraphs>46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Open Sans Hebrew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 Ost</dc:creator>
  <cp:lastModifiedBy>Sharvit, Amit</cp:lastModifiedBy>
  <cp:revision>27</cp:revision>
  <dcterms:created xsi:type="dcterms:W3CDTF">2025-05-10T11:28:38Z</dcterms:created>
  <dcterms:modified xsi:type="dcterms:W3CDTF">2026-05-19T12:27:08Z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0x01010063894B321F97984089F660A1B37BD856</vt:lpwstr>
  </property>
</Properties>
</file>